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C636E"/>
                </a:solidFill>
                <a:latin typeface="Calibri"/>
              </a:rPr>
              <a:t>A PROJECT PRESENTATION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42B52"/>
                </a:solidFill>
                <a:latin typeface="Calibri"/>
              </a:rPr>
              <a:t>High-Throughput Write-Optimised Key–Value Store using LSM Tree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74136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2E6DA4"/>
                </a:solidFill>
                <a:latin typeface="Calibri"/>
              </a:rPr>
              <a:t>KiwiDB — A Log-Structured Merge Tree Storage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3776472"/>
            <a:ext cx="1947672" cy="2540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4282E"/>
                </a:solidFill>
                <a:latin typeface="Calibri"/>
              </a:rPr>
              <a:t>Submitted by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078327" y="4270248"/>
          <a:ext cx="60350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237744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4282E"/>
                          </a:solidFill>
                          <a:latin typeface="Calibri"/>
                        </a:rPr>
                        <a:t>Chaitanya Paraskar</a:t>
                      </a:r>
                    </a:p>
                  </a:txBody>
                  <a:tcPr anchor="ctr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82E"/>
                          </a:solidFill>
                          <a:latin typeface="Calibri"/>
                        </a:rPr>
                        <a:t>Exam No: B400050361</a:t>
                      </a:r>
                    </a:p>
                  </a:txBody>
                  <a:tcPr anchor="ctr" marT="25400" marB="25400">
                    <a:solidFill>
                      <a:srgbClr val="EEF2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4282E"/>
                          </a:solidFill>
                          <a:latin typeface="Calibri"/>
                        </a:rPr>
                        <a:t>Shreyash Dhas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82E"/>
                          </a:solidFill>
                          <a:latin typeface="Calibri"/>
                        </a:rPr>
                        <a:t>Exam No: B400050389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4282E"/>
                          </a:solidFill>
                          <a:latin typeface="Calibri"/>
                        </a:rPr>
                        <a:t>Shreyash Gajbhiye</a:t>
                      </a:r>
                    </a:p>
                  </a:txBody>
                  <a:tcPr anchor="ctr" marT="25400" marB="254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82E"/>
                          </a:solidFill>
                          <a:latin typeface="Calibri"/>
                        </a:rPr>
                        <a:t>Exam No: B400050407</a:t>
                      </a:r>
                    </a:p>
                  </a:txBody>
                  <a:tcPr anchor="ctr" marT="25400" marB="25400">
                    <a:solidFill>
                      <a:srgbClr val="EEF2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4282E"/>
                          </a:solidFill>
                          <a:latin typeface="Calibri"/>
                        </a:rPr>
                        <a:t>Shreyas Gopnarayan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4282E"/>
                          </a:solidFill>
                          <a:latin typeface="Calibri"/>
                        </a:rPr>
                        <a:t>Exam No: B400050418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760719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4282E"/>
                </a:solidFill>
                <a:latin typeface="Calibri"/>
              </a:rPr>
              <a:t>Project Guide (Internal):  </a:t>
            </a:r>
            <a:r>
              <a:rPr sz="1400" b="1" i="0">
                <a:solidFill>
                  <a:srgbClr val="142B52"/>
                </a:solidFill>
                <a:latin typeface="Calibri"/>
              </a:rPr>
              <a:t>Prof. M. V. Mane</a:t>
            </a:r>
          </a:p>
          <a:p>
            <a:pPr algn="ctr">
              <a:spcBef>
                <a:spcPts val="200"/>
              </a:spcBef>
            </a:pPr>
            <a:r>
              <a:rPr sz="1250" b="0" i="0">
                <a:solidFill>
                  <a:srgbClr val="5C636E"/>
                </a:solidFill>
                <a:latin typeface="Calibri"/>
              </a:rPr>
              <a:t>Sponsorship:  None (in-house academic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Key–value (KV) stores map keys to values — a simplified interface offering higher performance, scalability and availability than relational databases.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5C636E"/>
                </a:solidFill>
                <a:latin typeface="Calibri"/>
              </a:rPr>
              <a:t>They power Internet-scale infrastructure: Google BigTable, Amazon Dynamo, Facebook Cassandra.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B+ trees give excellent reads but degrade on random writes — each mutation causes costly disk seeks.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The Log-Structured Merge (LSM) tree fixes this by turning random writes into sequential ones — buffer in memory, flush sorted runs to disk, merge in the background.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5C636E"/>
                </a:solidFill>
                <a:latin typeface="Calibri"/>
              </a:rPr>
              <a:t>Adopted by LevelDB, RocksDB, Cassandra, HBase, BigTable.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282E"/>
                </a:solidFill>
                <a:latin typeface="Calibri"/>
              </a:rPr>
              <a:t>KiwiDB: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 a complete LSM-tree KV store built from scratch in Python 3.12+.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5C636E"/>
                </a:solidFill>
                <a:latin typeface="Calibri"/>
              </a:rPr>
              <a:t>~6,600 lines of type-checked code · 25 modules · 211+ automated tests · async-native API · built-in web dashboard for live engine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Purpose and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282E"/>
                </a:solidFill>
                <a:latin typeface="Calibri"/>
              </a:rPr>
              <a:t>Purpose: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 build a write-optimised, crash-safe key–value store from first principles, and learn database internals by constructing them.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282E"/>
                </a:solidFill>
                <a:latin typeface="Calibri"/>
              </a:rPr>
              <a:t>Motivation — two gaps in existing LSM engines: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/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5C636E"/>
                </a:solidFill>
                <a:latin typeface="Calibri"/>
              </a:rPr>
              <a:t>Synchronous APIs: LevelDB / RocksDB expose blocking C++ interfaces; integrating them into async Python (FastAPI, asyncio) needs thread-pool wrappers that add latency and concurrency bugs.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400" b="0" i="0">
                <a:solidFill>
                  <a:srgbClr val="5C636E"/>
                </a:solidFill>
                <a:latin typeface="Calibri"/>
              </a:rPr>
              <a:t>Opaque internals: production engines prioritise throughput over observability — memtable state, bloom hit-rates, and compaction progress are hard to inspect or learn from.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4282E"/>
                </a:solidFill>
                <a:latin typeface="Calibri"/>
              </a:rPr>
              <a:t>Academic value: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 building the engine exposes write-ahead logging, memory management, disk persistence, concurrency control and background scheduling — usually studied only in theory.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10911535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50" b="1" i="0">
                <a:solidFill>
                  <a:srgbClr val="142B52"/>
                </a:solidFill>
                <a:latin typeface="Calibri"/>
              </a:rPr>
              <a:t>Design and implement a write-optimised key–value store that provides an async-native API, crash-safe persistence, background compaction with GIL bypass, and full observability via a web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Async-native API — no operation blocks the event loop.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Crash-safe persistence — write-ahead log with CRC32 integrity verification.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Background compaction — CPU-bound merging that bypasses CPython's Global Interpreter Lock.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4282E"/>
                </a:solidFill>
                <a:latin typeface="Calibri"/>
              </a:rPr>
              <a:t>Full observability — real-time inspection of every stage of the data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Async-native API where put, get, delete, flush, close are async coroutines that never block the event loop.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Write-ahead log with CRC32 integrity verification for crash recovery.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Concurrent skip-list memtable — fine-grained per-node locking for writes, lock-free reads.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SSTable persistence with bloom filters, sparse indexes and memory-mapped (mmap) reads.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Parallel flush pipeline with event-chain ordered commits for concurrent SSTable writes.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Subprocess-based compaction via ProcessPoolExecutor to bypass the GIL for true CPU parallelism.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Web dashboard (FastAPI backend + React frontend) for real-time engine inspection.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Literature Survey  (1 /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O'Neil et al. (1996) — The LSM Tree: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buffer writes in memory, flush sorted runs to disk, merge in background; foundation of KiwiDB.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Google LevelDB (2011):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canonical LSM — skip-list memtable, WAL, leveled compaction; KiwiDB's primary baseline.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Facebook RocksDB (2013):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adds concurrent compaction, column families, and a lock-free (CAS) skip list.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Wang et al. — LOCS (2014):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concurrent flush to separate SSD channels; up to 4× throughput (hardware-level parallelism).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Dayan et al. — Monkey (2017):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optimal bloom-filter memory allocation across LSM levels to minimise false-positive I/O.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Literature Survey  (2 /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Dayan &amp; Idreos — Dostoevsky (2018):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“lazy leveling” — tiering at the largest level, leveling at smaller levels; KiwiDB uses a similar L0-tiering / L1-leveling hybrid.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Luo &amp; Carey (2020):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comprehensive LSM survey formalising the design space (merge policy, size ratio, trigger); identifies write amplification as the key bottleneck.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Bloom (1970):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the bloom filter — membership test with no false negatives and a tunable false-positive rate. KiwiDB uses MurmurHash3.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Herlihy et al. (2006):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provably-correct concurrent skip list — fine-grained locking for writers, lock-free traversal for readers.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Lakshman &amp; Malik — Cassandra (2010):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distributed LSM; its commit-log → memtable → SSTable write path informed KiwiDB.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Requirements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Async put / get / delete operations (highest sequence number wins).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Automatic &amp; manual flush of memtable to SSTable.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Crash recovery via WAL replay (skip already-flushed entries).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Background compaction across L0–L3.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Web dashboard, REPL, runtime configuration, live log streaming.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Performance: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O(log n) memtable insert/read; lock-free reads.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Safety: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WAL fsync before visibility; CRC32 on WAL, bloom &amp; index; meta.json written last.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Security: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bandit static analysis on every change; no unsafe deserialization.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Quality: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100% type-annotation coverage (mypy + basedpyright, strict).</a:t>
            </a:r>
          </a:p>
          <a:p>
            <a:pPr algn="l">
              <a:lnSpc>
                <a:spcPct val="104000"/>
              </a:lnSpc>
              <a:spcAft>
                <a:spcPts val="5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Assumptions: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Python 3.12+, fsync-capable filesystem, single node, Node 18+ for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Software and Hardware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Python 3.12+ (PEP 695 type syntax), Node.js 18+, uv package manager.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Core libraries: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msgpack, mmh3, cachetools, structlog.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Web: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FastAPI, uvicorn, websockets, React + Vite.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Quality: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mypy, basedpyright, ruff, bandit, pytest + pytest-asyncio.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OS: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Linux, macOS, or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Any modern x86_64 or ARM64 system.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2+ GB RAM.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SSD storage recommended; NVMe optimal to realise the parallel-flush benefit.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No GPU required.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Standard POSIX file I/O (open, write, fsync, mmap).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Project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Estimates &amp;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~6,600 lines of code · 25 modules · 25 test modules / 211+ tests.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Effort: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~18 person-weeks across 4 members.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SDLC: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Iterative &amp; Incremental — each subsystem designed, built and tested independently, then integrated.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24282E"/>
                </a:solidFill>
                <a:latin typeface="Calibri"/>
              </a:rPr>
              <a:t>Tools: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 Git/GitHub, VS Code, weekly guide reviews.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75564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Schedule (18 weeks)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066544"/>
            <a:ext cx="527288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Requirements → Architecture → WAL + MemTable → SSTable → Flush → Compaction → Cache/Bloom → Web → Testing → Report.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Chaitanya Paraskar — engine core &amp; architecture.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Shreyash Dhas — SSTable, bloom filter, sparse index.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Shreyash Gajbhiye — compaction, flush pipeline, block cache.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82E"/>
                </a:solidFill>
                <a:latin typeface="Calibri"/>
              </a:rPr>
              <a:t>Shreyas Gopnarayan — web dashboard, observability, docs.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Architecture  (Block Diagram)</a:t>
            </a:r>
          </a:p>
        </p:txBody>
      </p:sp>
      <p:pic>
        <p:nvPicPr>
          <p:cNvPr id="10" name="Picture 9" descr="00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442" y="1755648"/>
            <a:ext cx="4988811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532120"/>
            <a:ext cx="109115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82E"/>
                </a:solidFill>
                <a:latin typeface="Calibri"/>
              </a:rPr>
              <a:t>Strict layered design: clients → LSM Engine → write path (WAL + MemTable) → background workers (Flush, Compaction) → on-disk SSTables (L0–L3).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82E"/>
                </a:solidFill>
                <a:latin typeface="Calibri"/>
              </a:rPr>
              <a:t>No module imports from a tier above it — prevents circular dependencies and lets each tier be tested in isolation.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Module Design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755648"/>
          <a:ext cx="10911535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7071055"/>
              </a:tblGrid>
              <a:tr h="42976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anchor="ctr" marL="76200"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anchor="ctr" marL="76200">
                    <a:solidFill>
                      <a:srgbClr val="142B5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app/engine/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LSMEngine coordinator, WAL/MemTable/SSTable/compaction managers, flush pipeline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app/memtable/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Concurrent skip list, active and immutable memtables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app/wal/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Write-ahead log writer with msgpack + CRC32 framing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app/sstable/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SSTable writer, reader, registry, metadata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app/bloom/  ·  app/index/  ·  app/cache/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Bloom filter, sparse index, three-tier LRU block cache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app/compaction/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Picklable task + subprocess merge worker (k-way merge)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app/common/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ABCs/Protocols, CRC, encoding, merge iterator, RW-lock, UUIDv7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app/observability/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Structured logging (structlog) + TCP log broadcast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42B52"/>
                          </a:solidFill>
                          <a:latin typeface="Consolas"/>
                        </a:rPr>
                        <a:t>web/  ·  frontend/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FastAPI server (8 route modules) + React SPA dashboard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Mathematical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4282E"/>
                </a:solidFill>
                <a:latin typeface="Calibri"/>
              </a:rPr>
              <a:t>State space:</a:t>
            </a:r>
            <a:r>
              <a:rPr sz="1400" b="0" i="0">
                <a:solidFill>
                  <a:srgbClr val="24282E"/>
                </a:solidFill>
                <a:latin typeface="Calibri"/>
              </a:rPr>
              <a:t> the engine is a function  S : K → (V ∪ {⊥}),  where ⊥ is a deleted/absent key; each operation carries a monotonic sequence number seq ∈ ℕ.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25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250" b="0" i="0">
                <a:solidFill>
                  <a:srgbClr val="5C636E"/>
                </a:solidFill>
                <a:latin typeface="Calibri"/>
              </a:rPr>
              <a:t>put(k,v): S ↦ S[k↦v] with seq = seq_max+1.   delete(k): S ↦ S[k↦⊥].   get(k) returns the value of the highest seq, or None.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4282E"/>
                </a:solidFill>
                <a:latin typeface="Calibri"/>
              </a:rPr>
              <a:t>Bloom filter sizing (data-derived, per SSTable):</a:t>
            </a:r>
            <a:r>
              <a:rPr sz="1400" b="0" i="0">
                <a:solidFill>
                  <a:srgbClr val="24282E"/>
                </a:solidFill>
                <a:latin typeface="Calibri"/>
              </a:rPr>
              <a:t>   m = ⌈ −n·ln p / (ln 2)² ⌉ ,   k = ⌈ (m/n)·ln 2 ⌉.</a:t>
            </a:r>
          </a:p>
          <a:p>
            <a:pPr algn="l" lvl="1">
              <a:lnSpc>
                <a:spcPct val="104000"/>
              </a:lnSpc>
              <a:spcAft>
                <a:spcPts val="700"/>
              </a:spcAft>
            </a:pPr>
            <a:r>
              <a:rPr sz="1250" b="1" i="0">
                <a:solidFill>
                  <a:srgbClr val="5C636E"/>
                </a:solidFill>
                <a:latin typeface="Calibri"/>
              </a:rPr>
              <a:t>    –  </a:t>
            </a:r>
            <a:r>
              <a:rPr sz="1250" b="0" i="0">
                <a:solidFill>
                  <a:srgbClr val="5C636E"/>
                </a:solidFill>
                <a:latin typeface="Calibri"/>
              </a:rPr>
              <a:t>Computed from the actual record count n at write time — right-sized filters, no global tuning.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4282E"/>
                </a:solidFill>
                <a:latin typeface="Calibri"/>
              </a:rPr>
              <a:t>Skip list:</a:t>
            </a:r>
            <a:r>
              <a:rPr sz="1400" b="0" i="0">
                <a:solidFill>
                  <a:srgbClr val="24282E"/>
                </a:solidFill>
                <a:latin typeface="Calibri"/>
              </a:rPr>
              <a:t> MAX_LEVEL = 16, promotion probability p = 0.5  ⇒  E[height] = log₂ n;  all operations O(log n).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4282E"/>
                </a:solidFill>
                <a:latin typeface="Calibri"/>
              </a:rPr>
              <a:t>K-way merge (compaction):</a:t>
            </a:r>
            <a:r>
              <a:rPr sz="1400" b="0" i="0">
                <a:solidFill>
                  <a:srgbClr val="24282E"/>
                </a:solidFill>
                <a:latin typeface="Calibri"/>
              </a:rPr>
              <a:t> min-heap over K sorted iterators, N records  ⇒  O(N log K) time, O(K) space.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4282E"/>
                </a:solidFill>
                <a:latin typeface="Calibri"/>
              </a:rPr>
              <a:t>Write amplification:</a:t>
            </a:r>
            <a:r>
              <a:rPr sz="1400" b="0" i="0">
                <a:solidFill>
                  <a:srgbClr val="24282E"/>
                </a:solidFill>
                <a:latin typeface="Calibri"/>
              </a:rPr>
              <a:t> hybrid L0-tiering / L1-leveling reduces flush-time write amplification ~10× vs pure leveling.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Key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5486400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Concurrent skip-list insert — validate-then-retry with per-node locks; lock-free reads.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K-way merge for compaction — min-heap, dedup by seq, tombstone garbage-collection.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WAL recovery — replay entries with seq &gt; on-disk max into a fresh memtable.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Parallel flush with event-chain commits — parallel writes, FIFO-ordered commits.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Bloom filter with data-derived sizing — optimal m, k from actual record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55648"/>
            <a:ext cx="5105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K-Way Merge (Compaction)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066544"/>
            <a:ext cx="5105095" cy="3703320"/>
          </a:xfrm>
          <a:prstGeom prst="rect">
            <a:avLst/>
          </a:prstGeom>
          <a:solidFill>
            <a:srgbClr val="12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194560"/>
            <a:ext cx="4775911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heap ← min-heap keyed on (key, −seq)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for each input iterator i: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push first record of i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last_key ← None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while heap not empty: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(key, seq, val) ← pop-min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if key ≠ last_key: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if val = TOMBSTONE and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   seq &lt; seq_cutoff: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    skip   # garbage-collect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else: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    emit (key, seq, val)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    last_key ← key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    push next record from same i</a:t>
            </a:r>
          </a:p>
          <a:p>
            <a:pPr>
              <a:lnSpc>
                <a:spcPct val="102000"/>
              </a:lnSpc>
            </a:pPr>
            <a:r>
              <a:rPr sz="1100" b="0" i="0">
                <a:solidFill>
                  <a:srgbClr val="D6E7CF"/>
                </a:solidFill>
                <a:latin typeface="Consolas"/>
              </a:rPr>
              <a:t>⟹  O(N log K) time,  O(K) space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UML — Use Case Diagram</a:t>
            </a:r>
          </a:p>
        </p:txBody>
      </p:sp>
      <p:pic>
        <p:nvPicPr>
          <p:cNvPr id="10" name="Picture 9" descr="01-use-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731" y="1755648"/>
            <a:ext cx="5586232" cy="424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044184"/>
            <a:ext cx="1091153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C636E"/>
                </a:solidFill>
                <a:latin typeface="Calibri"/>
              </a:rPr>
              <a:t>Actors (Application/Developer, Operator/Examiner, background Flush &amp; Compaction) and their use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UML — Class Diagram</a:t>
            </a:r>
          </a:p>
        </p:txBody>
      </p:sp>
      <p:pic>
        <p:nvPicPr>
          <p:cNvPr id="10" name="Picture 9" descr="02-class-high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43" y="1755648"/>
            <a:ext cx="8735209" cy="424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044184"/>
            <a:ext cx="1091153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C636E"/>
                </a:solidFill>
                <a:latin typeface="Calibri"/>
              </a:rPr>
              <a:t>Core class hierarchy: LSMEngine facade over WAL, MemTable, SSTable, compaction and read-accelerator classes.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UML — Sequence &amp; Activity</a:t>
            </a:r>
          </a:p>
        </p:txBody>
      </p:sp>
      <p:pic>
        <p:nvPicPr>
          <p:cNvPr id="10" name="Picture 9" descr="03-seq-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40148"/>
            <a:ext cx="5272887" cy="4092104"/>
          </a:xfrm>
          <a:prstGeom prst="rect">
            <a:avLst/>
          </a:prstGeom>
        </p:spPr>
      </p:pic>
      <p:pic>
        <p:nvPicPr>
          <p:cNvPr id="11" name="Picture 10" descr="08-activity-wr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616" y="1755648"/>
            <a:ext cx="1661108" cy="4261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62472"/>
            <a:ext cx="52728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C636E"/>
                </a:solidFill>
                <a:latin typeface="Calibri"/>
              </a:rPr>
              <a:t>Sequence: put(key, value)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6062472"/>
            <a:ext cx="52728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C636E"/>
                </a:solidFill>
                <a:latin typeface="Calibri"/>
              </a:rPr>
              <a:t>Activity: write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UML — Component &amp; State Machine</a:t>
            </a:r>
          </a:p>
        </p:txBody>
      </p:sp>
      <p:pic>
        <p:nvPicPr>
          <p:cNvPr id="10" name="Picture 9" descr="16-compon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37630"/>
            <a:ext cx="5272887" cy="2497140"/>
          </a:xfrm>
          <a:prstGeom prst="rect">
            <a:avLst/>
          </a:prstGeom>
        </p:spPr>
      </p:pic>
      <p:pic>
        <p:nvPicPr>
          <p:cNvPr id="11" name="Picture 10" descr="15-state-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48" y="1755648"/>
            <a:ext cx="2336644" cy="4261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62472"/>
            <a:ext cx="52728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C636E"/>
                </a:solidFill>
                <a:latin typeface="Calibri"/>
              </a:rPr>
              <a:t>Component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6062472"/>
            <a:ext cx="52728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C636E"/>
                </a:solidFill>
                <a:latin typeface="Calibri"/>
              </a:rPr>
              <a:t>State machine: engine lifecycle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Testing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E6DA4"/>
                </a:solidFill>
                <a:latin typeface="Calibri"/>
              </a:rPr>
              <a:t>Testing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282E"/>
                </a:solidFill>
                <a:latin typeface="Calibri"/>
              </a:rPr>
              <a:t>211+ unit tests across 25 modules (pytest) · integration tests for the full write→flush→read→recover cycle · async tests (pytest-asyncio) · dual strict type checking · bandit security scan · regression on every change.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715768"/>
          <a:ext cx="10911535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5120640"/>
                <a:gridCol w="1218895"/>
              </a:tblGrid>
              <a:tr h="375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 anchor="ctr" marL="76200"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anchor="ctr" marL="76200"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6200">
                    <a:solidFill>
                      <a:srgbClr val="142B5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put then get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Returns stored value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delete then get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Returns None (tombstone)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WAL recovery after crash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Data persists across restart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Concurrent skip-list inserts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All keys found, no lost writes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Bloom filter FPR at 1%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Observed FPR &lt; 2%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Flush pipeline FIFO order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SSTables committed oldest-first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Compaction dedup + tombstone GC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Highest seq kept; old tombstones removed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EEF2F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WAL CRC integrity check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4282E"/>
                          </a:solidFill>
                          <a:latin typeface="Calibri"/>
                        </a:rPr>
                        <a:t>Corrupt entry detected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B7A3D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62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Analysis &amp; Results —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Implemented a complete LSM-tree key–value store from scratch in Python 3.12+ (~6,600 LOC, 25 modules).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Async-native API verified — the event loop never blocks on disk I/O (WAL fsync offloaded via to_thread; compaction in a subprocess).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Crash recovery validated — all unflushed writes recovered via WAL replay; CRC32 detects any corruption.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~10× write-amplification reduction at flush time vs LevelDB's pure leveling (hybrid L0-tiering / L1-leveling).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211+ tests passing across 25 modules; mypy (strict) + basedpyright (strict) report zero errors.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Web dashboard with 10 interactive pages — live memtable fill, SSTable layout, compaction progress, log streaming, in-browser REPL.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Foundation for distributed KV stores: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etcd, TiKV and CockroachDB layer consensus (Raft/Paxos) over a local LSM engine — KiwiDB's modular interfaces make it a candidate base.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Embedded storage for applications: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crash-safe local storage for message queues, caches and configuration stores, with no external database.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Backend for write-heavy workloads: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log ingestion, event sourcing, IoT and time-series data benefit from sequential-write optimisation.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Storage-engine research &amp; prototyping: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experiment with compaction strategies, cache policies, bloom designs or on-disk formats without rewriting the engine.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45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4282E"/>
                </a:solidFill>
                <a:latin typeface="Calibri"/>
              </a:rPr>
              <a:t>Observability / monitoring infrastructure:</a:t>
            </a:r>
            <a:r>
              <a:rPr sz="1450" b="0" i="0">
                <a:solidFill>
                  <a:srgbClr val="24282E"/>
                </a:solidFill>
                <a:latin typeface="Calibri"/>
              </a:rPr>
              <a:t> the dashboard and live log streaming give real-time visibility into the data lifecycle.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Paper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10911535" cy="1417320"/>
          </a:xfrm>
          <a:prstGeom prst="rect">
            <a:avLst/>
          </a:prstGeom>
          <a:solidFill>
            <a:srgbClr val="EEF2F8"/>
          </a:solidFill>
          <a:ln w="1270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10399471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1F4E8C"/>
                </a:solidFill>
                <a:latin typeface="Calibri"/>
              </a:rPr>
              <a:t>1.  Survey Paper</a:t>
            </a:r>
          </a:p>
          <a:p>
            <a:pPr>
              <a:spcBef>
                <a:spcPts val="300"/>
              </a:spcBef>
            </a:pPr>
            <a:r>
              <a:rPr sz="1400" b="1" i="0">
                <a:solidFill>
                  <a:srgbClr val="142B52"/>
                </a:solidFill>
                <a:latin typeface="Calibri"/>
              </a:rPr>
              <a:t>“Survey of LSM Trees and Indexing Techniques in Key–Value Stores”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24282E"/>
                </a:solidFill>
                <a:latin typeface="Calibri"/>
              </a:rPr>
              <a:t>IEEE conference format · Authors: C. Paraskar, S. Dhas, S. Gajbhiye, S. Gopnarayan. Reviews the LSM design space and indexing techniques that inform KiwiDB.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55848"/>
            <a:ext cx="10911535" cy="1737360"/>
          </a:xfrm>
          <a:prstGeom prst="rect">
            <a:avLst/>
          </a:prstGeom>
          <a:solidFill>
            <a:srgbClr val="EEF2F8"/>
          </a:solidFill>
          <a:ln w="1270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02152"/>
            <a:ext cx="1039947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1F4E8C"/>
                </a:solidFill>
                <a:latin typeface="Calibri"/>
              </a:rPr>
              <a:t>2.  Implementation Paper</a:t>
            </a:r>
          </a:p>
          <a:p>
            <a:pPr>
              <a:spcBef>
                <a:spcPts val="300"/>
              </a:spcBef>
            </a:pPr>
            <a:r>
              <a:rPr sz="1400" b="1" i="0">
                <a:solidFill>
                  <a:srgbClr val="142B52"/>
                </a:solidFill>
                <a:latin typeface="Calibri"/>
              </a:rPr>
              <a:t>“KiwiDB: An Async-Native Log-Structured Merge Tree Key–Value Store with Parallel Flush and Subprocess Compaction”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24282E"/>
                </a:solidFill>
                <a:latin typeface="Calibri"/>
              </a:rPr>
              <a:t>IEEE conference format. Covers the system architecture, the three design innovations (async-native API, parallel flush with event-chain commits, subprocess compaction), implementation details, and a comparison with LevelDB and RocksDB.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Event Participation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11535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Two IEEE-format papers prepared by the team — a survey paper and an implementation paper (see Paper Details).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Project demonstrated at the Department of Computer Engineering project reviews (Term I and Term II evaluations), PICT.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Open-source release with full documentation (MkDocs site) and an interactive web dashboard for live demonstration.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4282E"/>
                </a:solidFill>
                <a:latin typeface="Calibri"/>
              </a:rPr>
              <a:t>[ To be updated with specific events — project competitions, conferences, hackathons, or exhibitions attended.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42B52"/>
                </a:solidFill>
                <a:latin typeface="Calibr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22716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N. Leavitt, “Will NoSQL databases live up to their promise?” Computer, 43(2), 2010.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[2]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F. Chang et al., “Bigtable: A distributed storage system for structured data,” ACM TOCS, 26(2), 2008.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[3]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A. Lakshman, P. Malik, “Cassandra: A decentralized structured storage system,” ACM SIGOPS OSR, 44(2), 2010.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[4]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G. DeCandia et al., “Dynamo: Amazon's highly available key-value store,” ACM SOSP, 2007.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[5]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P. O'Neil et al., “The log-structured merge-tree (LSM-tree),” Acta Informatica, 33(4), 1996.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[6]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Apache HBase. https://hbase.apache.org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[7]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Google, “LevelDB,” 2011. https://github.com/google/leveldb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[8]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Facebook, “RocksDB,” 2013. https://rocksdb.org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[9]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P. Wang et al., “LSM-tree based KV store on open-channel SSD,” ACM EuroSys, 2014.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755648"/>
            <a:ext cx="5227167" cy="4608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[10]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N. Dayan, M. Athanassoulis, S. Idreos, “Monkey: Optimal navigable KV store,” ACM SIGMOD, 2017.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[11]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N. Dayan, S. Idreos, “Dostoevsky,” ACM SIGMOD, 2018.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[12]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C. Luo, M. J. Carey, “LSM-based storage techniques: A survey,” VLDB Journal, 29, 2020.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[13]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B. H. Bloom, “Space/time trade-offs in hash coding with allowable errors,” CACM, 13(7), 1970.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[14]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M. Herlihy et al., “A provably correct scalable concurrent skip list,” OPODIS, 2006.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[15]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W. Pugh, “Skip lists: A probabilistic alternative to balanced trees,” CACM, 33(6), 1990.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[16]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MongoDB, “WiredTiger storage engine.” https://source.wiredtiger.com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 i="0">
                <a:solidFill>
                  <a:srgbClr val="1F4E8C"/>
                </a:solidFill>
                <a:latin typeface="Calibri"/>
              </a:rPr>
              <a:t>[17] </a:t>
            </a:r>
            <a:r>
              <a:rPr sz="1050" b="0" i="0">
                <a:solidFill>
                  <a:srgbClr val="24282E"/>
                </a:solidFill>
                <a:latin typeface="Calibri"/>
              </a:rPr>
              <a:t>Python Software Foundation, “Global Interpreter Lock.” https://wiki.python.org/moin/GlobalInterpreterLock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le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"/>
            <a:ext cx="841248" cy="841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274320"/>
            <a:ext cx="988740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B52"/>
                </a:solidFill>
                <a:latin typeface="Calibri"/>
              </a:rPr>
              <a:t>Pune Institute of Computer Technology</a:t>
            </a:r>
          </a:p>
          <a:p>
            <a:pPr algn="l">
              <a:spcBef>
                <a:spcPts val="100"/>
              </a:spcBef>
            </a:pPr>
            <a:r>
              <a:rPr sz="1350" b="1" i="0">
                <a:solidFill>
                  <a:srgbClr val="2E6DA4"/>
                </a:solidFill>
                <a:latin typeface="Calibri"/>
              </a:rPr>
              <a:t>Department of Computer Engineering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C636E"/>
                </a:solidFill>
                <a:latin typeface="Calibri"/>
              </a:rPr>
              <a:t>Savitribai Phule Pune University  ·  Academic Year 2025–26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11535" cy="33020"/>
          </a:xfrm>
          <a:prstGeom prst="rect">
            <a:avLst/>
          </a:prstGeom>
          <a:solidFill>
            <a:srgbClr val="14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29360"/>
            <a:ext cx="10911535" cy="1397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11535" cy="11430"/>
          </a:xfrm>
          <a:prstGeom prst="rect">
            <a:avLst/>
          </a:prstGeom>
          <a:solidFill>
            <a:srgbClr val="D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6E"/>
                </a:solidFill>
                <a:latin typeface="Calibri"/>
              </a:rPr>
              <a:t>KiwiDB · LSM Tree Key–Value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6E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42B52"/>
                </a:solidFill>
                <a:latin typeface="Calibri"/>
              </a:rPr>
              <a:t>Thank You</a:t>
            </a:r>
          </a:p>
          <a:p>
            <a:pPr algn="ctr">
              <a:spcBef>
                <a:spcPts val="800"/>
              </a:spcBef>
            </a:pPr>
            <a:r>
              <a:rPr sz="2000" b="0" i="0">
                <a:solidFill>
                  <a:srgbClr val="2E6DA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4160520"/>
            <a:ext cx="1828800" cy="31750"/>
          </a:xfrm>
          <a:prstGeom prst="rect">
            <a:avLst/>
          </a:prstGeom>
          <a:solidFill>
            <a:srgbClr val="C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C636E"/>
                </a:solidFill>
                <a:latin typeface="Calibri"/>
              </a:rPr>
              <a:t>High-Throughput Write-Optimised Key–Value Store using LSM Tree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